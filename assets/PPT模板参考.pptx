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2.xml" /><ns0:Relationship Id="rId3" Type="http://schemas.openxmlformats.org/officeDocument/2006/relationships/notesSlide" Target="../notesSlides/notesSlide1.xml" /></ns0: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201168"/>
            <a:ext cx="11713464" cy="644652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005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828800"/>
            <a:ext cx="12191695" cy="2148840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57984"/>
            <a:ext cx="1100023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毕业论文答辩模板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80360"/>
            <a:ext cx="110002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——研究主题示例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49824" y="4443984"/>
            <a:ext cx="1298448" cy="54864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736592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答辩人：示例学生    ·    XX届专业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285232"/>
            <a:ext cx="10725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示例院校    ·    年月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8978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58A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研究对象：示例研究对象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09960" y="63276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研究背景与问题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研究展示需要清楚交代背景、问题与价值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85216" y="17556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1755648"/>
            <a:ext cx="82296" cy="1965960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" y="192024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研究背景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2377440"/>
            <a:ext cx="3081528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概述研究领域的现实环境，以及需要关注的主要现象。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334256" y="17556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755648"/>
            <a:ext cx="82296" cy="1965960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2856" y="192024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研究空间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2377440"/>
            <a:ext cx="3081528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梳理已有讨论，说明本研究准备回应的具体问题。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083296" y="175564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755648"/>
            <a:ext cx="82296" cy="1965960"/>
          </a:xfrm>
          <a:prstGeom prst="rect">
            <a:avLst/>
          </a:prstGeom>
          <a:solidFill>
            <a:srgbClr val="104880"/>
          </a:solidFill>
          <a:ln w="12700">
            <a:solidFill>
              <a:srgbClr val="1048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11896" y="1920240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研究意义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8311896" y="2377440"/>
            <a:ext cx="3081528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介绍研究可能带来的理论参考或实践启发。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85216" y="4041648"/>
            <a:ext cx="11018520" cy="1481328"/>
          </a:xfrm>
          <a:prstGeom prst="roundRect">
            <a:avLst>
              <a:gd name="adj" fmla="val 4938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279392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核心研究问题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2816352" y="4187952"/>
            <a:ext cx="835761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研究对象呈现出哪些值得分析的现象？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4754880"/>
            <a:ext cx="83576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可以通过什么研究思路与方法进行分析？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852160"/>
            <a:ext cx="10835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理论意义：形成分析视角    ｜    实践意义：提供参考思路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资料来源：示例研究背景与文献梳理。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理论基础与研究思路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理论视角与研究方法共同构成分析路径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85216" y="1755648"/>
            <a:ext cx="5321808" cy="1499616"/>
          </a:xfrm>
          <a:prstGeom prst="roundRect">
            <a:avLst>
              <a:gd name="adj" fmla="val 4878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1755648"/>
            <a:ext cx="82296" cy="1499616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" y="1920240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理论视角 A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2377440"/>
            <a:ext cx="488289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用相关概念梳理研究对象的主要特征与需求。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44768" y="1755648"/>
            <a:ext cx="5468112" cy="1499616"/>
          </a:xfrm>
          <a:prstGeom prst="roundRect">
            <a:avLst>
              <a:gd name="adj" fmla="val 4878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755648"/>
            <a:ext cx="82296" cy="1499616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理论视角 B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237744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从补充角度理解研究问题，并明确分析重点。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354787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研究内容与分析路径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94360" y="4160520"/>
            <a:ext cx="2139696" cy="841248"/>
          </a:xfrm>
          <a:prstGeom prst="roundRect">
            <a:avLst>
              <a:gd name="adj" fmla="val 869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270248"/>
            <a:ext cx="429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4599432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研究准备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2697734" y="4370832"/>
            <a:ext cx="20116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2862072" y="4160520"/>
            <a:ext cx="2139696" cy="841248"/>
          </a:xfrm>
          <a:prstGeom prst="roundRect">
            <a:avLst>
              <a:gd name="adj" fmla="val 869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800" y="4270248"/>
            <a:ext cx="429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4599432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资料收集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4969256" y="4370832"/>
            <a:ext cx="20116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›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129784" y="4160520"/>
            <a:ext cx="2139696" cy="841248"/>
          </a:xfrm>
          <a:prstGeom prst="roundRect">
            <a:avLst>
              <a:gd name="adj" fmla="val 869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39512" y="4270248"/>
            <a:ext cx="429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4599432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数据分析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247128" y="4370832"/>
            <a:ext cx="20116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397496" y="4160520"/>
            <a:ext cx="2139696" cy="841248"/>
          </a:xfrm>
          <a:prstGeom prst="roundRect">
            <a:avLst>
              <a:gd name="adj" fmla="val 869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07224" y="4270248"/>
            <a:ext cx="429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525512" y="4599432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结果归纳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514840" y="4370832"/>
            <a:ext cx="20116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›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9665208" y="4160520"/>
            <a:ext cx="2139696" cy="841248"/>
          </a:xfrm>
          <a:prstGeom prst="roundRect">
            <a:avLst>
              <a:gd name="adj" fmla="val 8696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74936" y="4270248"/>
            <a:ext cx="429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793224" y="4599432"/>
            <a:ext cx="1892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建议设计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" y="533095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方法示例：资料梳理、问卷、访谈与描述性分析。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理论框架及方法来源：示例文献。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研究对象与样本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本页示意研究对象、样本构成和资料收集流程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174650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研究对象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" y="2157984"/>
            <a:ext cx="64922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示例单位    ·    示例领域    ·    示例范围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" y="2578608"/>
            <a:ext cx="649224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介绍研究对象的基本情况及样本构成。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1847088" cy="1298448"/>
          </a:xfrm>
          <a:prstGeom prst="roundRect">
            <a:avLst>
              <a:gd name="adj" fmla="val 5634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71232" y="1929384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2532888"/>
            <a:ext cx="1517904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示例单位人数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54896" y="1783080"/>
            <a:ext cx="2139696" cy="1298448"/>
          </a:xfrm>
          <a:prstGeom prst="roundRect">
            <a:avLst>
              <a:gd name="adj" fmla="val 5634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19488" y="1929384"/>
            <a:ext cx="181051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120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532888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研究样本  ·  60%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" y="3364992"/>
            <a:ext cx="10917936" cy="0"/>
          </a:xfrm>
          <a:prstGeom prst="line">
            <a:avLst/>
          </a:prstGeom>
          <a:noFill/>
          <a:ln w="12700">
            <a:solidFill>
              <a:srgbClr val="CEDD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" y="35935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资料收集流程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58368" y="4160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306824"/>
            <a:ext cx="19110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120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910328"/>
            <a:ext cx="1911096" cy="356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发放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2971800" y="458114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410712" y="4160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75304" y="4306824"/>
            <a:ext cx="19110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114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3575304" y="4910328"/>
            <a:ext cx="1911096" cy="356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回收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724144" y="458114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163056" y="4160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EF5FB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4306824"/>
            <a:ext cx="19110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108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4910328"/>
            <a:ext cx="1911096" cy="356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有效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476488" y="458114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915400" y="41605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9992" y="4306824"/>
            <a:ext cx="19110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90.0%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9079992" y="4910328"/>
            <a:ext cx="1911096" cy="356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示例有效率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715000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以上均为虚构示例值，仅用于展示页面布局。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资料来源：示意数据，非真实研究材料。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指标展示示例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本页示意展示测量质量指标的版式层级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172821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内部一致性指标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2585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维度一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240280" y="2286000"/>
            <a:ext cx="2980944" cy="228600"/>
          </a:xfrm>
          <a:prstGeom prst="roundRect">
            <a:avLst>
              <a:gd name="adj" fmla="val 32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2286000"/>
            <a:ext cx="2447355" cy="228600"/>
          </a:xfrm>
          <a:prstGeom prst="roundRect">
            <a:avLst>
              <a:gd name="adj" fmla="val 32000"/>
            </a:avLst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2221992"/>
            <a:ext cx="9144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0.82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95351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维度二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2240280" y="2980944"/>
            <a:ext cx="2980944" cy="228600"/>
          </a:xfrm>
          <a:prstGeom prst="roundRect">
            <a:avLst>
              <a:gd name="adj" fmla="val 32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2980944"/>
            <a:ext cx="2512936" cy="228600"/>
          </a:xfrm>
          <a:prstGeom prst="roundRect">
            <a:avLst>
              <a:gd name="adj" fmla="val 32000"/>
            </a:avLst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916936"/>
            <a:ext cx="9144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0.84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64845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维度三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2240280" y="3675888"/>
            <a:ext cx="2980944" cy="228600"/>
          </a:xfrm>
          <a:prstGeom prst="roundRect">
            <a:avLst>
              <a:gd name="adj" fmla="val 32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3675888"/>
            <a:ext cx="2578517" cy="228600"/>
          </a:xfrm>
          <a:prstGeom prst="roundRect">
            <a:avLst>
              <a:gd name="adj" fmla="val 32000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49240" y="3611880"/>
            <a:ext cx="9144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0.86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48272" y="1828800"/>
            <a:ext cx="2103120" cy="1389888"/>
          </a:xfrm>
          <a:prstGeom prst="roundRect">
            <a:avLst>
              <a:gd name="adj" fmla="val 5263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12864" y="1975104"/>
            <a:ext cx="177393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0.89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6912864" y="2578608"/>
            <a:ext cx="177393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整体量表示例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25712" y="1828800"/>
            <a:ext cx="2468880" cy="1389888"/>
          </a:xfrm>
          <a:prstGeom prst="roundRect">
            <a:avLst>
              <a:gd name="adj" fmla="val 5263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90304" y="1975104"/>
            <a:ext cx="21396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0.87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9290304" y="257860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适用性指标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748272" y="3520440"/>
            <a:ext cx="4846320" cy="1243584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22592" y="3721608"/>
            <a:ext cx="42519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检验统计示例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022592" y="4178808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χ² = 123.456    ·    df = 12    ·    p &lt; 0.01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21792" y="4800600"/>
            <a:ext cx="10963656" cy="950976"/>
          </a:xfrm>
          <a:prstGeom prst="roundRect">
            <a:avLst>
              <a:gd name="adj" fmla="val 7692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" y="5047488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量表结构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5010912"/>
            <a:ext cx="8732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此处可说明维度数量、题项安排或测量范围。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5961888"/>
            <a:ext cx="10698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数值均为虚构示例，不代表任何真实研究结果。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资料来源：示意数据，非真实研究材料。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分组比较展示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本页示意比较不同分组与评价维度的结果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2761488" y="187452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52928" y="19842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维度一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0" y="187452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19842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维度二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77072" y="187452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68512" y="19842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维度三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" y="2496312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2670048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A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61488" y="2496312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52928" y="2660904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0.420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669280" y="2496312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2660904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0.032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577072" y="2496312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68512" y="2660904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0.014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76656" y="324612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341985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B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761488" y="324612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341071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0.021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69280" y="324612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0" y="341071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0.480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577072" y="324612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68512" y="341071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0.310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76656" y="3995928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16966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C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761488" y="399592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52928" y="416052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0.008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669280" y="399592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416052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0.350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577072" y="399592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68512" y="416052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0.027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76656" y="4745736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491947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D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2761488" y="4745736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852928" y="49103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0.440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5669280" y="4745736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60720" y="49103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0.018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8577072" y="4745736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68512" y="49103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 = 0.390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94944" y="5513832"/>
            <a:ext cx="10771632" cy="566928"/>
          </a:xfrm>
          <a:prstGeom prst="roundRect">
            <a:avLst>
              <a:gd name="adj" fmla="val 12903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7824" y="5641848"/>
            <a:ext cx="104058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8A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高亮表示 p &lt; .05；此处仅示范结果表的视觉编码。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示意数据，非真实研究结果；阈值仅用于演示排版。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调查结果：分组比较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示例分组在不同评价维度上的均值比较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66928" y="1737360"/>
            <a:ext cx="5596128" cy="4389120"/>
          </a:xfrm>
          <a:prstGeom prst="roundRect">
            <a:avLst>
              <a:gd name="adj" fmla="val 16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1874520"/>
            <a:ext cx="5175504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A–C：维度一与维度二示例均值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61288" y="4818888"/>
            <a:ext cx="4718304" cy="0"/>
          </a:xfrm>
          <a:prstGeom prst="line">
            <a:avLst/>
          </a:prstGeom>
          <a:noFill/>
          <a:ln w="12700">
            <a:solidFill>
              <a:srgbClr val="6675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00016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61288" y="4295394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7652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61288" y="3771900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653028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61288" y="3248406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2953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61288" y="2724912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60604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74998" y="3154177"/>
            <a:ext cx="256032" cy="1664711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2861569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3.20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47766" y="3059948"/>
            <a:ext cx="256032" cy="1758940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52344" y="2767340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3.40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20534" y="2944779"/>
            <a:ext cx="256032" cy="1874109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25112" y="2652171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3.60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964314" y="3138472"/>
            <a:ext cx="256032" cy="1680416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65960" y="2845864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3.30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537082" y="2997129"/>
            <a:ext cx="256032" cy="1821759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38728" y="2704521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3.50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109850" y="2798201"/>
            <a:ext cx="256032" cy="2020687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11496" y="2505593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3.80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" y="4928616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A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2734056" y="4928616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B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306824" y="4928616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C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07008" y="2331720"/>
            <a:ext cx="164592" cy="1645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44752" y="228600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维度一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172968" y="2331720"/>
            <a:ext cx="164592" cy="164592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10712" y="228600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维度二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" y="568756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示例检验 p=.021    ·    p=.008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355080" y="1737360"/>
            <a:ext cx="5248656" cy="4389120"/>
          </a:xfrm>
          <a:prstGeom prst="roundRect">
            <a:avLst>
              <a:gd name="adj" fmla="val 16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83680" y="1874520"/>
            <a:ext cx="4782312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A–D：维度一示例均值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958584" y="4818888"/>
            <a:ext cx="4343400" cy="0"/>
          </a:xfrm>
          <a:prstGeom prst="line">
            <a:avLst/>
          </a:prstGeom>
          <a:noFill/>
          <a:ln w="12700">
            <a:solidFill>
              <a:srgbClr val="66758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28816" y="4700016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958584" y="4295394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28816" y="417652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958584" y="3771900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28816" y="3653028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958584" y="3248406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28816" y="312953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958584" y="2724912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28816" y="260604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7336917" y="2923840"/>
            <a:ext cx="329184" cy="18950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72325" y="2631232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3.60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422767" y="3033773"/>
            <a:ext cx="329184" cy="1785115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58175" y="2741165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3.45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508617" y="3206526"/>
            <a:ext cx="329184" cy="161236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44025" y="2913918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3.10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594467" y="3169882"/>
            <a:ext cx="329184" cy="1649006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429875" y="2877274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3.20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695858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A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804443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B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913028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C</a:t>
            </a:r>
            <a:endParaRPr lang="en-US" sz="1800" dirty="0"/>
          </a:p>
        </p:txBody>
      </p:sp>
      <p:sp>
        <p:nvSpPr>
          <p:cNvPr id="69" name="Text 67"/>
          <p:cNvSpPr txBox="1"/>
          <p:nvPr/>
        </p:nvSpPr>
        <p:spPr>
          <a:xfrm>
            <a:off x="1021613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D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6565392" y="5687568"/>
            <a:ext cx="4791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示例检验 p=.018    ·    其他比较仅作排版示例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示意数据，非真实研究结果；图表仅供样式参考。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调查结果：分组比较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示例分组在不同评价维度上的均值比较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66928" y="1737360"/>
            <a:ext cx="5596128" cy="4389120"/>
          </a:xfrm>
          <a:prstGeom prst="roundRect">
            <a:avLst>
              <a:gd name="adj" fmla="val 16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1874520"/>
            <a:ext cx="5175504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A–D：维度一与维度二示例均值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61288" y="4818888"/>
            <a:ext cx="4718304" cy="0"/>
          </a:xfrm>
          <a:prstGeom prst="line">
            <a:avLst/>
          </a:prstGeom>
          <a:noFill/>
          <a:ln w="12700">
            <a:solidFill>
              <a:srgbClr val="6675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00016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61288" y="4295394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7652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61288" y="3771900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653028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61288" y="3248406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2953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61288" y="2724912"/>
            <a:ext cx="4718304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60604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36832" y="2955249"/>
            <a:ext cx="201168" cy="1863639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2662641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3.55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16408" y="3028539"/>
            <a:ext cx="201168" cy="1790349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59152" y="2735931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3.40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895984" y="3148942"/>
            <a:ext cx="201168" cy="1669946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38728" y="2856334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3.20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75560" y="3222231"/>
            <a:ext cx="201168" cy="1596657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2929623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3.05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764152" y="2944779"/>
            <a:ext cx="201168" cy="1874109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69364" y="2652171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3.60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943728" y="2991894"/>
            <a:ext cx="201168" cy="1826994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48940" y="2699286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3.50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123304" y="3080888"/>
            <a:ext cx="201168" cy="1738000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28516" y="2788280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3.30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302880" y="3154177"/>
            <a:ext cx="201168" cy="1664711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08092" y="2861569"/>
            <a:ext cx="542605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3.15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" y="4928616"/>
            <a:ext cx="11795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A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340864" y="4928616"/>
            <a:ext cx="11795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B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4928616"/>
            <a:ext cx="11795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C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4700016" y="4928616"/>
            <a:ext cx="11795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07008" y="2331720"/>
            <a:ext cx="164592" cy="1645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44752" y="228600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维度一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72968" y="2331720"/>
            <a:ext cx="164592" cy="164592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10712" y="228600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维度二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" y="568756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示例检验 p=.014    ·    p=.026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55080" y="1737360"/>
            <a:ext cx="5248656" cy="4389120"/>
          </a:xfrm>
          <a:prstGeom prst="roundRect">
            <a:avLst>
              <a:gd name="adj" fmla="val 16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83680" y="1874520"/>
            <a:ext cx="4782312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组别 A–D：维度三示例均值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6958584" y="4818888"/>
            <a:ext cx="4343400" cy="0"/>
          </a:xfrm>
          <a:prstGeom prst="line">
            <a:avLst/>
          </a:prstGeom>
          <a:noFill/>
          <a:ln w="12700">
            <a:solidFill>
              <a:srgbClr val="66758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28816" y="4700016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958584" y="4295394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28816" y="417652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958584" y="3771900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28816" y="3653028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958584" y="3248406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28816" y="312953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958584" y="2724912"/>
            <a:ext cx="4343400" cy="0"/>
          </a:xfrm>
          <a:prstGeom prst="line">
            <a:avLst/>
          </a:prstGeom>
          <a:noFill/>
          <a:ln w="6985">
            <a:solidFill>
              <a:srgbClr val="CEDDE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28816" y="260604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7336917" y="2929075"/>
            <a:ext cx="329184" cy="1889813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172325" y="2636467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3.60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422767" y="3070418"/>
            <a:ext cx="329184" cy="1748470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258175" y="2777810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3.35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508617" y="3133237"/>
            <a:ext cx="329184" cy="1685651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344025" y="2840629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3.20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0594467" y="3222231"/>
            <a:ext cx="329184" cy="1596657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429875" y="2929623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232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3.00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695858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A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804443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B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913028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C</a:t>
            </a:r>
            <a:endParaRPr lang="en-US" sz="1800" dirty="0"/>
          </a:p>
        </p:txBody>
      </p:sp>
      <p:sp>
        <p:nvSpPr>
          <p:cNvPr id="74" name="Text 72"/>
          <p:cNvSpPr txBox="1"/>
          <p:nvPr/>
        </p:nvSpPr>
        <p:spPr>
          <a:xfrm>
            <a:off x="10216134" y="4928616"/>
            <a:ext cx="108585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组 D</a:t>
            </a:r>
            <a:endParaRPr lang="en-US" sz="1800" dirty="0"/>
          </a:p>
        </p:txBody>
      </p:sp>
      <p:sp>
        <p:nvSpPr>
          <p:cNvPr id="75" name="Text 73"/>
          <p:cNvSpPr txBox="1"/>
          <p:nvPr/>
        </p:nvSpPr>
        <p:spPr>
          <a:xfrm>
            <a:off x="6565392" y="5687568"/>
            <a:ext cx="4791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582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示例检验 p=.019    ·    其他比较仅作排版示例</a:t>
            </a:r>
            <a:endParaRPr lang="en-US" sz="1800" dirty="0"/>
          </a:p>
        </p:txBody>
      </p:sp>
      <p:sp>
        <p:nvSpPr>
          <p:cNvPr id="76" name="Text 74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示意数据，非真实研究结果；图表仅供样式参考。</a:t>
            </a:r>
            <a:endParaRPr lang="en-US" sz="1800" dirty="0"/>
          </a:p>
        </p:txBody>
      </p:sp>
      <p:sp>
        <p:nvSpPr>
          <p:cNvPr id="77" name="Text 75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分析归纳示意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本页示意如何将研究现象归纳为分析要点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603504" y="1783080"/>
            <a:ext cx="10991088" cy="941832"/>
          </a:xfrm>
          <a:prstGeom prst="roundRect">
            <a:avLst>
              <a:gd name="adj" fmla="val 7767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783080"/>
            <a:ext cx="758952" cy="941832"/>
          </a:xfrm>
          <a:prstGeom prst="roundRect">
            <a:avLst>
              <a:gd name="adj" fmla="val 9639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2039112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1929384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要点一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1929384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观察到的现象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2039112"/>
            <a:ext cx="420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1929384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结合背景材料进一步分析原因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03504" y="2852928"/>
            <a:ext cx="10991088" cy="941832"/>
          </a:xfrm>
          <a:prstGeom prst="roundRect">
            <a:avLst>
              <a:gd name="adj" fmla="val 77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2852928"/>
            <a:ext cx="758952" cy="941832"/>
          </a:xfrm>
          <a:prstGeom prst="roundRect">
            <a:avLst>
              <a:gd name="adj" fmla="val 9639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" y="3108960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609344" y="2999232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要点二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090672" y="2999232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不同群体呈现不同关注点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108960"/>
            <a:ext cx="420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2999232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补充适配不同情境的解释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03504" y="3922776"/>
            <a:ext cx="10991088" cy="941832"/>
          </a:xfrm>
          <a:prstGeom prst="roundRect">
            <a:avLst>
              <a:gd name="adj" fmla="val 7767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3922776"/>
            <a:ext cx="758952" cy="941832"/>
          </a:xfrm>
          <a:prstGeom prst="roundRect">
            <a:avLst>
              <a:gd name="adj" fmla="val 9639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178808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609344" y="4069080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要点三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090672" y="406908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研究过程包含多个阶段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4178808"/>
            <a:ext cx="420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4069080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关注阶段变化与持续影响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603504" y="4992624"/>
            <a:ext cx="10991088" cy="941832"/>
          </a:xfrm>
          <a:prstGeom prst="roundRect">
            <a:avLst>
              <a:gd name="adj" fmla="val 776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4992624"/>
            <a:ext cx="758952" cy="941832"/>
          </a:xfrm>
          <a:prstGeom prst="roundRect">
            <a:avLst>
              <a:gd name="adj" fmla="val 9639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" y="5248656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609344" y="5138928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要点四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3090672" y="5138928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不同岗位或场景各有特点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6236208" y="5248656"/>
            <a:ext cx="420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5138928"/>
            <a:ext cx="45537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结合实际环境细化分析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示例文字，仅展示“现象—解释”的页面组织方式。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策略建议示例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本页示意如何把分析发现转化为行动建议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94360" y="1938528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938528"/>
            <a:ext cx="2560320" cy="146304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2295144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2916936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分类支持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602736"/>
            <a:ext cx="2139696" cy="1389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针对不同需求，提供相应的成长与资源支持。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401568" y="1938528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1938528"/>
            <a:ext cx="2560320" cy="146304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2295144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68A8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2916936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机制优化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602736"/>
            <a:ext cx="2139696" cy="1389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结合岗位职责和评价规则完善激励安排。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208776" y="1938528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1938528"/>
            <a:ext cx="2560320" cy="146304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9088" y="2295144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2916936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持续发展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3602736"/>
            <a:ext cx="2139696" cy="1389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设置阶段性目标，并关注长期成长机会。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9015984" y="1938528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1938528"/>
            <a:ext cx="2560320" cy="146304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26296" y="2295144"/>
            <a:ext cx="6583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68A8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25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2916936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沟通反馈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3602736"/>
            <a:ext cx="2139696" cy="1389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明确规则，收集反馈并根据实施情况调整。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" y="5769864"/>
            <a:ext cx="10835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58A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落地原则：标准清晰    ·    过程可追踪    ·    根据反馈调整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示例内容，仅用于展示版式，不代表具体研究建议。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文献布局示例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参考文献排版示例（占位信息）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92224"/>
            <a:ext cx="53583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[1] 示例作者. 研究主题与理论基础[J]. 示例期刊, 20XX.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79776"/>
            <a:ext cx="535838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[2] 示例作者. 管理实践分析研究[J]. 示例期刊, 20XX.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59936"/>
            <a:ext cx="53583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[3] 示例作者. 组织发展路径研究[D]. 示例大学, 20XX.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1792224"/>
            <a:ext cx="5239512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[4] 示例作者. 专业人才培养方法[J]. 示例期刊, 20XX.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3090672"/>
            <a:ext cx="5239512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[5] Example Author. A sample research title[J]. Example Journal, 20XX.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62472" y="1783080"/>
            <a:ext cx="0" cy="3922776"/>
          </a:xfrm>
          <a:prstGeom prst="line">
            <a:avLst/>
          </a:prstGeom>
          <a:noFill/>
          <a:ln w="12700">
            <a:solidFill>
              <a:srgbClr val="CEDD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" y="5916168"/>
            <a:ext cx="10817352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本页仅示范参考文献布局；所有书目信息均为虚构占位。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正式引用应根据实际研究材料填写。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结论与自我评价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本页用于归纳主要结论、完成情况与后续方向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594360" y="1764792"/>
            <a:ext cx="11000232" cy="1252728"/>
          </a:xfrm>
          <a:prstGeom prst="roundRect">
            <a:avLst>
              <a:gd name="adj" fmla="val 5839"/>
            </a:avLst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198424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主要结论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2395728" y="1911096"/>
            <a:ext cx="875995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根据实际研究发现，简洁回应研究问题并概括主要结论。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291840"/>
            <a:ext cx="82296" cy="1965960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456432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任务完成与自我评价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913632"/>
            <a:ext cx="4882896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说明已完成的研究工作，并结合实际情况作简要自我评价。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144768" y="3291840"/>
            <a:ext cx="5449824" cy="1965960"/>
          </a:xfrm>
          <a:prstGeom prst="roundRect">
            <a:avLst>
              <a:gd name="adj" fmla="val 3721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3291840"/>
            <a:ext cx="82296" cy="1965960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3456432"/>
            <a:ext cx="5010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后续工作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3913632"/>
            <a:ext cx="5010912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5232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结合研究范围、资料条件和实施进度，介绍可以继续探索的方向。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678424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58A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自我评价：示例表述，请按实际研究任务填写。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示例文字；正式结论和完成情况应以当前研究为准。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64008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毕业论文答辩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395728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64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结语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0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背景意义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99816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研究设计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32704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1A0AE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调查分析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521208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对策结论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822960"/>
            <a:ext cx="146304" cy="7315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96012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结语页可用简洁要点收束研究主线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658368" y="1993392"/>
            <a:ext cx="3401568" cy="2414016"/>
          </a:xfrm>
          <a:prstGeom prst="roundRect">
            <a:avLst>
              <a:gd name="adj" fmla="val 3030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93392"/>
            <a:ext cx="3401568" cy="1645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239572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2944368"/>
            <a:ext cx="2907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聚焦主题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77570" y="3383280"/>
            <a:ext cx="3014345" cy="658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用一句话概括研究所关注的核心问题。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370832" y="1993392"/>
            <a:ext cx="3401568" cy="2414016"/>
          </a:xfrm>
          <a:prstGeom prst="roundRect">
            <a:avLst>
              <a:gd name="adj" fmla="val 3030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0832" y="1993392"/>
            <a:ext cx="3401568" cy="164592"/>
          </a:xfrm>
          <a:prstGeom prst="rect">
            <a:avLst/>
          </a:prstGeom>
          <a:solidFill>
            <a:srgbClr val="68A8D8"/>
          </a:solidFill>
          <a:ln w="12700">
            <a:solidFill>
              <a:srgbClr val="68A8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90288" y="239572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8A8D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2944368"/>
            <a:ext cx="2907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提炼发现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408172"/>
            <a:ext cx="290779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归纳最重要的结论或分析结果。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083296" y="1993392"/>
            <a:ext cx="3401568" cy="2414016"/>
          </a:xfrm>
          <a:prstGeom prst="roundRect">
            <a:avLst>
              <a:gd name="adj" fmla="val 3030"/>
            </a:avLst>
          </a:prstGeom>
          <a:solidFill>
            <a:srgbClr val="F8FBFE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1993392"/>
            <a:ext cx="3401568" cy="164592"/>
          </a:xfrm>
          <a:prstGeom prst="rect">
            <a:avLst/>
          </a:prstGeom>
          <a:solidFill>
            <a:srgbClr val="104880"/>
          </a:solidFill>
          <a:ln w="12700">
            <a:solidFill>
              <a:srgbClr val="1048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02752" y="2395728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488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2944368"/>
            <a:ext cx="29077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2323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展望后续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8291957" y="3408172"/>
            <a:ext cx="290779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简要说明后续实践或研究可以推进的方向。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58368" y="4992624"/>
            <a:ext cx="10826496" cy="768096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CEDD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202936"/>
            <a:ext cx="10314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8A8"/>
                </a:solidFill>
                <a:latin typeface="Hiragino Sans GB" panose="020B0300000000000000" pitchFamily="34" charset="-122"/>
                <a:ea typeface="Hiragino Sans GB" panose="020B0300000000000000" pitchFamily="34" charset="-122"/>
                <a:cs typeface="Hiragino Sans GB" panose="020B0300000000000000" pitchFamily="34" charset="-120"/>
              </a:rPr>
              <a:t>汇报到此结束，感谢聆听。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739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75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以上为通用结语示例，可根据实际研究调整。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109960" y="6473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58A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WPS 文字</ns0:Application>
  <ns0:PresentationFormat>On-screen Show (16:9)</ns0:PresentationFormat>
  <ns0:Paragraphs>0</ns0:Paragraphs>
  <ns0:Slides>13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17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13</ns1:i4>
      </ns1:variant>
    </ns1:vector>
  </ns0:HeadingPairs>
  <ns0:TitlesOfParts>
    <ns1:vector size="31" baseType="lpstr">
      <ns1:lpstr>Arial</ns1:lpstr>
      <ns1:lpstr>宋体</ns1:lpstr>
      <ns1:lpstr>Wingdings</ns1:lpstr>
      <ns1:lpstr>Hiragino Sans GB</ns1:lpstr>
      <ns1:lpstr>Hiragino Sans GB</ns1:lpstr>
      <ns1:lpstr>Songti SC</ns1:lpstr>
      <ns1:lpstr>Songti SC</ns1:lpstr>
      <ns1:lpstr>Times New Roman</ns1:lpstr>
      <ns1:lpstr>Times New Roman</ns1:lpstr>
      <ns1:lpstr>Times New Roman</ns1:lpstr>
      <ns1:lpstr>微软雅黑</ns1:lpstr>
      <ns1:lpstr>方正雅意黑 GB18030L2</ns1:lpstr>
      <ns1:lpstr>宋体</ns1:lpstr>
      <ns1:lpstr>Arial Unicode MS</ns1:lpstr>
      <ns1:lpstr>Calibri</ns1:lpstr>
      <ns1:lpstr>Helvetica Neue</ns1:lpstr>
      <ns1:lpstr>汉仪书宋二KW</ns1:lpstr>
      <ns1:lpstr>Office Theme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PPT模板参考（脱敏示例）</dc:title>
  <dc:creator/>
  <dc:subject>通用学术答辩视觉版式参考</dc:subject>
  <cp:lastModifiedBy/>
  <cp:revision>4</cp:revision>
  <dcterms:created xsi:type="dcterms:W3CDTF">2000-01-01T00:00:00Z</dcterms:created>
  <dcterms:modified xsi:type="dcterms:W3CDTF">2000-01-01T00:00:00Z</dcterms:modified>
  <cp:keywords/>
  <dc:description/>
  <cp:category/>
  <dc:identifier/>
  <dc:language/>
  <cp:contentStatus/>
</cp:coreProperties>
</file>

<file path=docProps/custom.xml><?xml version="1.0" encoding="utf-8"?>
<ns0:Properties xmlns:ns0="http://schemas.openxmlformats.org/officeDocument/2006/custom-properties"/>
</file>